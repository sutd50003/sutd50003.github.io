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86" r:id="rId3"/>
    <p:sldId id="291" r:id="rId4"/>
    <p:sldId id="304" r:id="rId5"/>
    <p:sldId id="287" r:id="rId6"/>
    <p:sldId id="290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289" r:id="rId17"/>
    <p:sldId id="288" r:id="rId18"/>
    <p:sldId id="301" r:id="rId19"/>
    <p:sldId id="302" r:id="rId20"/>
    <p:sldId id="3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DC509-E9A5-8348-8E0E-F8D96224D48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F1EBC-1CB0-074E-92E7-733E0AF4E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0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7043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9DCE2-FA1A-38FE-2CAC-2F613580E9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8A4CB-3DC6-03D1-44BF-2CB9ACCE68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DC3C7-A8F5-D428-7439-4F4E515C3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84193-CE62-0C98-4305-CB23204D5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AD871-48D9-E010-6C77-97173EB7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07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92FB-8965-CB3B-8FEF-7EB9EE50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EE9C-3DF2-0D0B-872F-634D70656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2A9A8-EA55-83DC-CE6A-040B54BB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AEEA6-F7BE-2CB5-7332-DDBEFDDC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661E68-FE41-E371-03B3-4F9222511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91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CBC2-4229-2CA6-CCF7-3C524D51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D4E491-7188-FCBA-BE79-F986A3EB6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3FFCE-766D-F32D-ADC9-A5DB39EB3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AD81-A6E8-06DA-BCBF-39E3D7415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3765E-C85C-6BCF-B358-EE0252D2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120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B5B1-D0E8-4BFF-AD92-204068B7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E036-8F49-AE00-8C70-6131AA033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1D80AA-A31C-E027-C322-F91B54E0B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52C62-9E83-874D-730F-40E5E863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FCFE6-B84D-7987-9AFC-F6E51060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22CCB1-0AB2-4E86-2067-7E49E4D3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30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4B06D-0BFD-1340-86FD-D8919E53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693E7-8FF8-1E4A-1E68-789017A53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73D708-B83E-0A3F-E20C-932FF91C3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AECC7B-191B-5E0C-808C-854A71A03C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B4D7B-A42B-3A77-6B54-997131ECE1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FDCF0-D099-E935-C089-0736BA9A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8267D-D145-60D0-B6E1-4DFB6C695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EF89B-04C2-35CD-9B72-485AE0E06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51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FCDEB-C06F-9563-9BFB-BCFC4CABD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417DE-BA49-7B69-6127-4E8017D17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D737C-BCCC-6927-6A3B-8752B392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C7B99-92CC-D371-1844-ADE62147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240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2844E6-6A11-83A0-BAB1-5D6660C2F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EB139-5727-DE68-059E-B844AF4CA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77460-675C-20D0-C684-FA5D3824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26D73-4C6D-8D7F-4086-8B1EA655C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CED5-2720-6959-16B1-813168491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E1F350-014A-722B-09A1-A06787DBB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86081-C6CB-2CEF-479E-47C12DC81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5C7E0-779B-9F5F-6CCA-AC5F7021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94768-C1BC-EAEB-02DB-4F4123F83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50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D27B6-CFFF-2661-9386-9735CD883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FE035-2D15-BFDE-880B-F93015915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8CA0FA-25FC-377D-1401-981387382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8F9E3-62CB-D710-A769-23DA4465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FE217B-B210-D4BF-ABF5-A5AE9240A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11DB-D09C-D26A-8905-96B8F12D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6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C59C6-324B-D55C-309D-9002AD91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31690-79F0-F529-96B3-ADC1A4CCD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26175-7562-4384-8DE2-DF7E1046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396DA-0BFE-3826-28BC-5DDD39B2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1A2A0-C307-2607-0B04-94F56B00B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61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FE7AE-B257-9150-1C77-779215439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F7988-3FC2-50B6-C42E-1F3042EE5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8DBCF-56B5-E89A-F5C6-57E9DC7A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BFC8-C4D0-D924-00DB-3BE8F624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C5782-8CE5-FB28-EF24-20D50F672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50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9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629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C5193-8093-9728-2A60-717DF27C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F8DDB-05BE-75FC-59BA-34360A940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737EA-CDD5-37D6-0EE2-0AFC1606DE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9E695B-D7EE-B748-B424-A52B46AD817B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C20C-B55F-6F6A-BAEF-1D5832AD4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4E25E-B129-B0FA-2846-C1E48D20A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0A827-A72A-5248-91D1-5F10A873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69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RNJCfif1dPY&amp;t=1046s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61AE-6200-25E4-1EF2-861D5EBB0E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50.003 Elements of Software Construction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F16EE2-DAC1-0821-D388-25BA6E8CE2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z="3600" dirty="0"/>
              <a:t>Introduction to Agentic Software Development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711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D8BB-3064-7EC9-6AAE-E128E42A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Agentic AI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1147B-A34E-4619-0C3C-D9BFBE076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LLM</a:t>
            </a:r>
          </a:p>
          <a:p>
            <a:pPr>
              <a:lnSpc>
                <a:spcPct val="114999"/>
              </a:lnSpc>
            </a:pPr>
            <a:r>
              <a:rPr lang="en-US" dirty="0"/>
              <a:t>Has access to read the environment</a:t>
            </a:r>
          </a:p>
          <a:p>
            <a:pPr>
              <a:lnSpc>
                <a:spcPct val="114999"/>
              </a:lnSpc>
            </a:pPr>
            <a:r>
              <a:rPr lang="en-US" dirty="0"/>
              <a:t>Given limited control to modify the environment</a:t>
            </a:r>
          </a:p>
        </p:txBody>
      </p:sp>
    </p:spTree>
    <p:extLst>
      <p:ext uri="{BB962C8B-B14F-4D97-AF65-F5344CB8AC3E}">
        <p14:creationId xmlns:p14="http://schemas.microsoft.com/office/powerpoint/2010/main" val="252601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637E6-6D99-4CA8-2B2A-A174ED1CE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333"/>
              <a:t>Why Agentic AI in ESC (when you are learning SWE)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9D9B7-C5CA-7579-6AE1-6E5BB13E9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to </a:t>
            </a:r>
            <a:r>
              <a:rPr lang="en-US"/>
              <a:t>circumvent your thinking and learning.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You should </a:t>
            </a:r>
            <a:r>
              <a:rPr lang="en-US"/>
              <a:t>practice SW design and development</a:t>
            </a:r>
            <a:r>
              <a:rPr lang="en-US" dirty="0"/>
              <a:t> manually when you are learning.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You will develop senior dev sense, experience, good "taste".</a:t>
            </a:r>
          </a:p>
          <a:p>
            <a:pPr>
              <a:lnSpc>
                <a:spcPct val="114999"/>
              </a:lnSpc>
            </a:pPr>
            <a:r>
              <a:rPr lang="en-US"/>
              <a:t>Offer you some "sneak preview" into what Agentic AI in Software Development is like.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What to use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When to use</a:t>
            </a:r>
            <a:endParaRPr lang="en-US" dirty="0"/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How to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80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48A42-3758-7417-A471-B19F6D9D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2F7A0-41D2-9456-CDF8-7996D7177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984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41144-6A40-A493-5E89-67BDEA96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Agentic AI in Software Development?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47D55-38F6-A8E8-A271-36819951B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 and Vibe?</a:t>
            </a:r>
          </a:p>
          <a:p>
            <a:pPr>
              <a:lnSpc>
                <a:spcPct val="114999"/>
              </a:lnSpc>
            </a:pPr>
            <a:r>
              <a:rPr lang="en-US" dirty="0"/>
              <a:t>Reduce (re)search time?</a:t>
            </a:r>
          </a:p>
          <a:p>
            <a:pPr>
              <a:lnSpc>
                <a:spcPct val="114999"/>
              </a:lnSpc>
            </a:pPr>
            <a:r>
              <a:rPr lang="en-US" dirty="0"/>
              <a:t>Reduce boilerplate code?</a:t>
            </a:r>
          </a:p>
          <a:p>
            <a:pPr lvl="1">
              <a:lnSpc>
                <a:spcPct val="114999"/>
              </a:lnSpc>
            </a:pPr>
            <a:r>
              <a:rPr lang="en-US" dirty="0"/>
              <a:t>SE guys say: why not turning common patterns into a library</a:t>
            </a:r>
          </a:p>
          <a:p>
            <a:pPr>
              <a:lnSpc>
                <a:spcPct val="114999"/>
              </a:lnSpc>
            </a:pPr>
            <a:r>
              <a:rPr lang="en-US" dirty="0"/>
              <a:t>Shorten time-to-market process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dirty="0">
                <a:hlinkClick r:id="rId2"/>
              </a:rPr>
              <a:t>https://www.youtube.com/watch?v=RNJCfif1dPY&amp;t=1046s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 dirty="0"/>
              <a:t>SE guys say: well because you are building a startup app.</a:t>
            </a:r>
          </a:p>
          <a:p>
            <a:pPr>
              <a:lnSpc>
                <a:spcPct val="114999"/>
              </a:lnSpc>
            </a:pPr>
            <a:r>
              <a:rPr lang="en-US" dirty="0"/>
              <a:t>Reduce SWE dev workload?</a:t>
            </a:r>
          </a:p>
          <a:p>
            <a:pPr lvl="1">
              <a:lnSpc>
                <a:spcPct val="114999"/>
              </a:lnSpc>
              <a:buSzPts val="1800"/>
            </a:pPr>
            <a:r>
              <a:rPr lang="en-US"/>
              <a:t>Can the AI codes survive in the production?</a:t>
            </a:r>
            <a:endParaRPr lang="en-US" dirty="0"/>
          </a:p>
          <a:p>
            <a:pPr>
              <a:lnSpc>
                <a:spcPct val="114999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72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B19C-30FE-4522-FE29-975F786BE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Software Engineering? (Wikipedia)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E356D-9D08-0890-BA47-D3F140498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sz="2667" baseline="30000" dirty="0"/>
              <a:t>Software engineering is a branch of both computer science and engineering focused on </a:t>
            </a:r>
            <a:r>
              <a:rPr lang="en-US" sz="2667" b="1" baseline="30000" dirty="0"/>
              <a:t>designing</a:t>
            </a:r>
            <a:r>
              <a:rPr lang="en-US" sz="2667" baseline="30000" dirty="0"/>
              <a:t>, </a:t>
            </a:r>
            <a:r>
              <a:rPr lang="en-US" sz="2667" b="1" baseline="30000" dirty="0"/>
              <a:t>developing</a:t>
            </a:r>
            <a:r>
              <a:rPr lang="en-US" sz="2667" baseline="30000" dirty="0"/>
              <a:t>, </a:t>
            </a:r>
            <a:r>
              <a:rPr lang="en-US" sz="2667" b="1" baseline="30000" dirty="0"/>
              <a:t>testing</a:t>
            </a:r>
            <a:r>
              <a:rPr lang="en-US" sz="2667" baseline="30000" dirty="0"/>
              <a:t>, and </a:t>
            </a:r>
            <a:r>
              <a:rPr lang="en-US" sz="2667" b="1" baseline="30000" dirty="0"/>
              <a:t>maintaining </a:t>
            </a:r>
            <a:r>
              <a:rPr lang="en-US" sz="2667" baseline="30000" dirty="0"/>
              <a:t>software applications.</a:t>
            </a:r>
            <a:endParaRPr lang="en-US" sz="2667" dirty="0"/>
          </a:p>
          <a:p>
            <a:pPr>
              <a:lnSpc>
                <a:spcPct val="114999"/>
              </a:lnSpc>
            </a:pPr>
            <a:r>
              <a:rPr lang="en-US" sz="2667" baseline="30000" dirty="0"/>
              <a:t>It involves applying engineering principles and computer programming expertise to develop software systems that </a:t>
            </a:r>
            <a:r>
              <a:rPr lang="en-US" sz="2667" b="1" baseline="30000" dirty="0"/>
              <a:t>meet user needs</a:t>
            </a:r>
            <a:r>
              <a:rPr lang="en-US" sz="2667" baseline="30000" dirty="0"/>
              <a:t>. </a:t>
            </a:r>
            <a:endParaRPr lang="en-US" sz="2667" dirty="0"/>
          </a:p>
          <a:p>
            <a:pPr>
              <a:lnSpc>
                <a:spcPct val="114999"/>
              </a:lnSpc>
            </a:pPr>
            <a:r>
              <a:rPr lang="en-US" sz="2667" baseline="30000" dirty="0"/>
              <a:t>The terms programmer and coder overlap software engineer, but they imply only the construction aspect of a typical software engineer workload.</a:t>
            </a:r>
            <a:endParaRPr lang="en-US" sz="2667" dirty="0"/>
          </a:p>
          <a:p>
            <a:pPr>
              <a:lnSpc>
                <a:spcPct val="114999"/>
              </a:lnSpc>
            </a:pPr>
            <a:r>
              <a:rPr lang="en-US" sz="2667" baseline="30000" dirty="0"/>
              <a:t>A software engineer applies a software development process, which involves defining, implementing, testing, managing, and maintaining software systems, as well as developing the software development process itself.</a:t>
            </a:r>
            <a:endParaRPr lang="en-US" sz="2667" dirty="0"/>
          </a:p>
        </p:txBody>
      </p:sp>
    </p:spTree>
    <p:extLst>
      <p:ext uri="{BB962C8B-B14F-4D97-AF65-F5344CB8AC3E}">
        <p14:creationId xmlns:p14="http://schemas.microsoft.com/office/powerpoint/2010/main" val="979329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AF58-4427-6DCC-D001-A14B4751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17F5-4CF3-FA1E-8DD6-CCAB8B517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Which parts can't be done by LLM?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C58BF-BCAA-A793-703D-1F2AEF1B2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14999"/>
              </a:lnSpc>
            </a:pPr>
            <a:r>
              <a:rPr lang="en-US" sz="2667" baseline="30000" dirty="0"/>
              <a:t>Software engineering is a branch of both computer science and engineering focused on </a:t>
            </a:r>
            <a:r>
              <a:rPr lang="en-US" sz="2667" b="1" baseline="30000" dirty="0">
                <a:solidFill>
                  <a:srgbClr val="FF0000"/>
                </a:solidFill>
              </a:rPr>
              <a:t>designing</a:t>
            </a:r>
            <a:r>
              <a:rPr lang="en-US" sz="2667" baseline="30000" dirty="0"/>
              <a:t>, </a:t>
            </a:r>
            <a:r>
              <a:rPr lang="en-US" sz="2667" b="1" baseline="30000" dirty="0"/>
              <a:t>developing</a:t>
            </a:r>
            <a:r>
              <a:rPr lang="en-US" sz="2667" baseline="30000" dirty="0"/>
              <a:t>, </a:t>
            </a:r>
            <a:r>
              <a:rPr lang="en-US" sz="2667" b="1" baseline="30000" dirty="0"/>
              <a:t>testing</a:t>
            </a:r>
            <a:r>
              <a:rPr lang="en-US" sz="2667" baseline="30000" dirty="0"/>
              <a:t>, and </a:t>
            </a:r>
            <a:r>
              <a:rPr lang="en-US" sz="2667" b="1" baseline="30000" dirty="0">
                <a:solidFill>
                  <a:srgbClr val="FF0000"/>
                </a:solidFill>
              </a:rPr>
              <a:t>maintaining </a:t>
            </a:r>
            <a:r>
              <a:rPr lang="en-US" sz="2667" baseline="30000" dirty="0"/>
              <a:t>software applications.</a:t>
            </a:r>
            <a:endParaRPr lang="en-US" sz="2667"/>
          </a:p>
          <a:p>
            <a:pPr>
              <a:lnSpc>
                <a:spcPct val="114999"/>
              </a:lnSpc>
            </a:pPr>
            <a:r>
              <a:rPr lang="en-US" sz="2667" baseline="30000" dirty="0"/>
              <a:t>It involves applying engineering principles and computer programming expertise to develop software systems that</a:t>
            </a:r>
            <a:r>
              <a:rPr lang="en-US" sz="2667" baseline="30000" dirty="0">
                <a:solidFill>
                  <a:srgbClr val="FF0000"/>
                </a:solidFill>
              </a:rPr>
              <a:t> </a:t>
            </a:r>
            <a:r>
              <a:rPr lang="en-US" sz="2667" b="1" baseline="30000" dirty="0">
                <a:solidFill>
                  <a:srgbClr val="FF0000"/>
                </a:solidFill>
              </a:rPr>
              <a:t>meet user needs</a:t>
            </a:r>
            <a:r>
              <a:rPr lang="en-US" sz="2667" baseline="30000" dirty="0">
                <a:solidFill>
                  <a:srgbClr val="FF0000"/>
                </a:solidFill>
              </a:rPr>
              <a:t>. </a:t>
            </a:r>
            <a:endParaRPr lang="en-US" sz="2667" dirty="0">
              <a:solidFill>
                <a:srgbClr val="FF0000"/>
              </a:solidFill>
            </a:endParaRPr>
          </a:p>
          <a:p>
            <a:pPr>
              <a:lnSpc>
                <a:spcPct val="114999"/>
              </a:lnSpc>
            </a:pPr>
            <a:r>
              <a:rPr lang="en-US" sz="2667" baseline="30000" dirty="0"/>
              <a:t>The terms programmer and coder overlap software engineer, but they imply only the construction aspect of a typical software engineer workload.</a:t>
            </a:r>
            <a:endParaRPr lang="en-US" sz="2667" dirty="0"/>
          </a:p>
          <a:p>
            <a:pPr>
              <a:lnSpc>
                <a:spcPct val="114999"/>
              </a:lnSpc>
            </a:pPr>
            <a:r>
              <a:rPr lang="en-US" sz="2667" baseline="30000" dirty="0"/>
              <a:t>A software engineer applies a software development process, which involves </a:t>
            </a:r>
            <a:r>
              <a:rPr lang="en-US" sz="2667" baseline="30000" dirty="0">
                <a:solidFill>
                  <a:srgbClr val="FF0000"/>
                </a:solidFill>
              </a:rPr>
              <a:t>defining</a:t>
            </a:r>
            <a:r>
              <a:rPr lang="en-US" sz="2667" baseline="30000" dirty="0"/>
              <a:t>, implementing, testing, </a:t>
            </a:r>
            <a:r>
              <a:rPr lang="en-US" sz="2667" baseline="30000" dirty="0">
                <a:solidFill>
                  <a:srgbClr val="FF0000"/>
                </a:solidFill>
              </a:rPr>
              <a:t>managing, and maintaining software systems</a:t>
            </a:r>
            <a:r>
              <a:rPr lang="en-US" sz="2667" baseline="30000" dirty="0"/>
              <a:t>, as well as developing the software development process itself.</a:t>
            </a:r>
            <a:endParaRPr lang="en-US" sz="2667"/>
          </a:p>
        </p:txBody>
      </p:sp>
    </p:spTree>
    <p:extLst>
      <p:ext uri="{BB962C8B-B14F-4D97-AF65-F5344CB8AC3E}">
        <p14:creationId xmlns:p14="http://schemas.microsoft.com/office/powerpoint/2010/main" val="364603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E626A-CAE1-4163-5BBE-B189D45B44E8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413657" y="1507673"/>
            <a:ext cx="11362267" cy="3647924"/>
          </a:xfrm>
        </p:spPr>
        <p:txBody>
          <a:bodyPr>
            <a:normAutofit fontScale="92500" lnSpcReduction="10000"/>
          </a:bodyPr>
          <a:lstStyle/>
          <a:p>
            <a:pPr marL="152396" indent="0">
              <a:buNone/>
            </a:pPr>
            <a:r>
              <a:rPr lang="en-US" sz="4267" b="1">
                <a:solidFill>
                  <a:srgbClr val="242424"/>
                </a:solidFill>
                <a:highlight>
                  <a:srgbClr val="FFFFFF"/>
                </a:highlight>
              </a:rPr>
              <a:t>“Coding is to programming, what typing is to writing”</a:t>
            </a:r>
            <a:endParaRPr lang="en-US">
              <a:solidFill>
                <a:srgbClr val="595959"/>
              </a:solidFill>
            </a:endParaRPr>
          </a:p>
          <a:p>
            <a:pPr marL="152396" indent="0">
              <a:lnSpc>
                <a:spcPct val="114999"/>
              </a:lnSpc>
              <a:buNone/>
            </a:pPr>
            <a:endParaRPr lang="en-US" sz="4267" b="1" dirty="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152396" indent="0">
              <a:lnSpc>
                <a:spcPct val="114999"/>
              </a:lnSpc>
              <a:buNone/>
            </a:pPr>
            <a:endParaRPr lang="en-US" sz="4267" b="1" dirty="0">
              <a:solidFill>
                <a:srgbClr val="242424"/>
              </a:solidFill>
              <a:highlight>
                <a:srgbClr val="FFFFFF"/>
              </a:highlight>
            </a:endParaRPr>
          </a:p>
          <a:p>
            <a:pPr marL="152396" indent="0">
              <a:lnSpc>
                <a:spcPct val="114999"/>
              </a:lnSpc>
              <a:buNone/>
            </a:pPr>
            <a:r>
              <a:rPr lang="en-US" sz="4667" b="1">
                <a:solidFill>
                  <a:srgbClr val="242424"/>
                </a:solidFill>
                <a:highlight>
                  <a:srgbClr val="FFFFFF"/>
                </a:highlight>
              </a:rPr>
              <a:t>                                   -- Leslie Lamport</a:t>
            </a:r>
            <a:endParaRPr lang="en-US" sz="4667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761981" indent="-609585">
              <a:lnSpc>
                <a:spcPct val="114999"/>
              </a:lnSpc>
              <a:buFont typeface="Wingdings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8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2EA9-BEBB-FA9E-5E74-898A1E96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561F3-8E85-EBE5-B745-745033EF5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B65F7-CE30-3EC5-7115-88B84CAF8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0DF090-4C3E-37FF-8ACE-DC2A4145AEBA}"/>
              </a:ext>
            </a:extLst>
          </p:cNvPr>
          <p:cNvSpPr txBox="1"/>
          <p:nvPr/>
        </p:nvSpPr>
        <p:spPr>
          <a:xfrm>
            <a:off x="2056410" y="6310415"/>
            <a:ext cx="94778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src</a:t>
            </a:r>
            <a:r>
              <a:rPr lang="en-US" sz="2400" dirty="0"/>
              <a:t>: https://medium.com/software-engineering-kmitl/v-model-3a71622b3d82</a:t>
            </a:r>
          </a:p>
        </p:txBody>
      </p:sp>
    </p:spTree>
    <p:extLst>
      <p:ext uri="{BB962C8B-B14F-4D97-AF65-F5344CB8AC3E}">
        <p14:creationId xmlns:p14="http://schemas.microsoft.com/office/powerpoint/2010/main" val="390842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8849E-F86E-1747-894A-06C644935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68A37-784B-E322-02A5-ED9699B33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360CD-2DD3-81C7-AA85-252721C20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FDED41-0B69-D129-768D-E7E098407E15}"/>
              </a:ext>
            </a:extLst>
          </p:cNvPr>
          <p:cNvSpPr txBox="1"/>
          <p:nvPr/>
        </p:nvSpPr>
        <p:spPr>
          <a:xfrm>
            <a:off x="2056410" y="6310416"/>
            <a:ext cx="947782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The good old days – the "traditional" way!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271D1ED-6FD2-E3BF-4DD3-9A1A2BE1C38A}"/>
              </a:ext>
            </a:extLst>
          </p:cNvPr>
          <p:cNvCxnSpPr/>
          <p:nvPr/>
        </p:nvCxnSpPr>
        <p:spPr>
          <a:xfrm flipV="1">
            <a:off x="1555667" y="6099299"/>
            <a:ext cx="9500259" cy="395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45BFFF-916A-569F-D421-EC60E816EFD0}"/>
              </a:ext>
            </a:extLst>
          </p:cNvPr>
          <p:cNvSpPr txBox="1"/>
          <p:nvPr/>
        </p:nvSpPr>
        <p:spPr>
          <a:xfrm>
            <a:off x="9962077" y="5657933"/>
            <a:ext cx="118291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Human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8AB172-FB5C-166A-AAFB-0E8DD4233FFC}"/>
              </a:ext>
            </a:extLst>
          </p:cNvPr>
          <p:cNvSpPr txBox="1"/>
          <p:nvPr/>
        </p:nvSpPr>
        <p:spPr>
          <a:xfrm>
            <a:off x="9962077" y="6136903"/>
            <a:ext cx="13716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1031654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AAA3E-C2DC-4BA5-6F0B-20E10DE84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4E55-E25F-A1E9-2D4E-9228C8FE5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AA3C5-EAC9-7157-9C3C-F374FEA16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1AFB6F-F530-6EE1-D859-DF14FCD6583F}"/>
              </a:ext>
            </a:extLst>
          </p:cNvPr>
          <p:cNvSpPr txBox="1"/>
          <p:nvPr/>
        </p:nvSpPr>
        <p:spPr>
          <a:xfrm>
            <a:off x="1918525" y="6158015"/>
            <a:ext cx="9477828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We have to do the detailed designs, up to function signatures, and type annotations, input and expected outputs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C8D743-8BA8-F511-661F-39D505D99BC2}"/>
              </a:ext>
            </a:extLst>
          </p:cNvPr>
          <p:cNvCxnSpPr/>
          <p:nvPr/>
        </p:nvCxnSpPr>
        <p:spPr>
          <a:xfrm flipV="1">
            <a:off x="1693552" y="5264727"/>
            <a:ext cx="9500259" cy="395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2F0BAD-6131-C77B-D3AB-4ECEF5196622}"/>
              </a:ext>
            </a:extLst>
          </p:cNvPr>
          <p:cNvSpPr txBox="1"/>
          <p:nvPr/>
        </p:nvSpPr>
        <p:spPr>
          <a:xfrm>
            <a:off x="10099963" y="4823361"/>
            <a:ext cx="118291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C653DC-CE74-B948-F708-1A3D93FF1D7F}"/>
              </a:ext>
            </a:extLst>
          </p:cNvPr>
          <p:cNvSpPr txBox="1"/>
          <p:nvPr/>
        </p:nvSpPr>
        <p:spPr>
          <a:xfrm>
            <a:off x="10099963" y="5302331"/>
            <a:ext cx="13716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286891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BE867-C615-3549-1B9C-82E84EB1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5019-6D4E-1369-C7A1-8315CD80A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FA483A-B698-2760-4384-8364FA4B9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CEB875-EEED-FADF-280B-B0ABB846F6F6}"/>
              </a:ext>
            </a:extLst>
          </p:cNvPr>
          <p:cNvSpPr txBox="1"/>
          <p:nvPr/>
        </p:nvSpPr>
        <p:spPr>
          <a:xfrm>
            <a:off x="2056410" y="6310415"/>
            <a:ext cx="9477828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Autonomous agents that </a:t>
            </a:r>
            <a:r>
              <a:rPr lang="en-US" sz="2400"/>
              <a:t>pick up a task, a ticket, a PR.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A7B8AB5-3015-AB60-8816-EDAD3040367F}"/>
              </a:ext>
            </a:extLst>
          </p:cNvPr>
          <p:cNvCxnSpPr/>
          <p:nvPr/>
        </p:nvCxnSpPr>
        <p:spPr>
          <a:xfrm flipV="1">
            <a:off x="1548409" y="4480955"/>
            <a:ext cx="9500259" cy="395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E248E3-C20D-4AB2-E2E9-6CF49F24070E}"/>
              </a:ext>
            </a:extLst>
          </p:cNvPr>
          <p:cNvSpPr txBox="1"/>
          <p:nvPr/>
        </p:nvSpPr>
        <p:spPr>
          <a:xfrm>
            <a:off x="9954820" y="4039589"/>
            <a:ext cx="118291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Human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B4D202-2416-FFD5-22A3-C517D2FB6A21}"/>
              </a:ext>
            </a:extLst>
          </p:cNvPr>
          <p:cNvSpPr txBox="1"/>
          <p:nvPr/>
        </p:nvSpPr>
        <p:spPr>
          <a:xfrm>
            <a:off x="9954820" y="4518559"/>
            <a:ext cx="13716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1830102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FC81B-1A26-D1B4-FEC3-8467C5F8D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DA241-E38C-3E44-3264-C036548D3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180859-7C8C-61E7-1C22-4F8D8D7D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DAAFFC-3265-B7A3-DE9B-988206DCE7C5}"/>
              </a:ext>
            </a:extLst>
          </p:cNvPr>
          <p:cNvSpPr txBox="1"/>
          <p:nvPr/>
        </p:nvSpPr>
        <p:spPr>
          <a:xfrm>
            <a:off x="1229802" y="6310415"/>
            <a:ext cx="1076076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You are a team lead over a swarm of AI agents, probably a lot of unused tokens in your account. 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7BF292-0C6E-D51F-0877-1F1BAB108CC4}"/>
              </a:ext>
            </a:extLst>
          </p:cNvPr>
          <p:cNvCxnSpPr/>
          <p:nvPr/>
        </p:nvCxnSpPr>
        <p:spPr>
          <a:xfrm flipV="1">
            <a:off x="1577437" y="3718955"/>
            <a:ext cx="9500259" cy="395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A33EF2-7EB7-5BA5-3171-E111F7284DA8}"/>
              </a:ext>
            </a:extLst>
          </p:cNvPr>
          <p:cNvSpPr txBox="1"/>
          <p:nvPr/>
        </p:nvSpPr>
        <p:spPr>
          <a:xfrm>
            <a:off x="9983848" y="3277589"/>
            <a:ext cx="118291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Human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28467-C344-C554-D00C-43842F42FC47}"/>
              </a:ext>
            </a:extLst>
          </p:cNvPr>
          <p:cNvSpPr txBox="1"/>
          <p:nvPr/>
        </p:nvSpPr>
        <p:spPr>
          <a:xfrm>
            <a:off x="9983848" y="3756559"/>
            <a:ext cx="13716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1443264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4BF08-C2B5-B060-6235-795211C11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3B92-2A84-B85E-B358-A135E8F9C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82728-5DCD-539A-F20E-B7AA0885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7C7F23-0AE8-BD13-C8C0-BE874FA48BA3}"/>
              </a:ext>
            </a:extLst>
          </p:cNvPr>
          <p:cNvSpPr txBox="1"/>
          <p:nvPr/>
        </p:nvSpPr>
        <p:spPr>
          <a:xfrm>
            <a:off x="4335785" y="6264634"/>
            <a:ext cx="379575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Vibe coding? Are you a CEO?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4A3935B-A3CA-ED29-B955-FA364B8C08B6}"/>
              </a:ext>
            </a:extLst>
          </p:cNvPr>
          <p:cNvCxnSpPr/>
          <p:nvPr/>
        </p:nvCxnSpPr>
        <p:spPr>
          <a:xfrm flipV="1">
            <a:off x="1577437" y="2927927"/>
            <a:ext cx="9500259" cy="39584"/>
          </a:xfrm>
          <a:prstGeom prst="straightConnector1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951076C-AC47-A866-FF3E-7133608EB674}"/>
              </a:ext>
            </a:extLst>
          </p:cNvPr>
          <p:cNvSpPr txBox="1"/>
          <p:nvPr/>
        </p:nvSpPr>
        <p:spPr>
          <a:xfrm>
            <a:off x="9983848" y="2486561"/>
            <a:ext cx="118291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/>
              <a:t>Human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CA1D1-ACE8-8B9F-AD7B-97C589BDF7BF}"/>
              </a:ext>
            </a:extLst>
          </p:cNvPr>
          <p:cNvSpPr txBox="1"/>
          <p:nvPr/>
        </p:nvSpPr>
        <p:spPr>
          <a:xfrm>
            <a:off x="9983848" y="2965531"/>
            <a:ext cx="13716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AI Agents</a:t>
            </a:r>
          </a:p>
        </p:txBody>
      </p:sp>
    </p:spTree>
    <p:extLst>
      <p:ext uri="{BB962C8B-B14F-4D97-AF65-F5344CB8AC3E}">
        <p14:creationId xmlns:p14="http://schemas.microsoft.com/office/powerpoint/2010/main" val="103675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8F53-02E7-AD1E-5395-697715F8C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E3A0-5EF4-0D5C-9667-A000783B5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V-Model for SWE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0FCE1-6028-762C-1C97-A237848A8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277" y="1610967"/>
            <a:ext cx="5647447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ED7C92-86AA-F3DB-FF88-618A4BE47CCF}"/>
              </a:ext>
            </a:extLst>
          </p:cNvPr>
          <p:cNvSpPr txBox="1"/>
          <p:nvPr/>
        </p:nvSpPr>
        <p:spPr>
          <a:xfrm>
            <a:off x="950684" y="6160374"/>
            <a:ext cx="1092326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Why not every component? Probably no productivity gain, you just need a smarter auto complete.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AE94B-259E-820F-DFB4-6B4C3204CF10}"/>
              </a:ext>
            </a:extLst>
          </p:cNvPr>
          <p:cNvSpPr txBox="1"/>
          <p:nvPr/>
        </p:nvSpPr>
        <p:spPr>
          <a:xfrm>
            <a:off x="1521513" y="2273674"/>
            <a:ext cx="1524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 &amp; 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894821-9CDB-5253-767C-4FB211B5287C}"/>
              </a:ext>
            </a:extLst>
          </p:cNvPr>
          <p:cNvSpPr txBox="1"/>
          <p:nvPr/>
        </p:nvSpPr>
        <p:spPr>
          <a:xfrm>
            <a:off x="2058543" y="3144531"/>
            <a:ext cx="1524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 &amp; AI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C26083-98F1-C351-9AE6-03F68070F76E}"/>
              </a:ext>
            </a:extLst>
          </p:cNvPr>
          <p:cNvSpPr txBox="1"/>
          <p:nvPr/>
        </p:nvSpPr>
        <p:spPr>
          <a:xfrm>
            <a:off x="2668141" y="3906530"/>
            <a:ext cx="1524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 &amp; 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B49FAE-A20D-D542-561E-164E27825A1C}"/>
              </a:ext>
            </a:extLst>
          </p:cNvPr>
          <p:cNvSpPr txBox="1"/>
          <p:nvPr/>
        </p:nvSpPr>
        <p:spPr>
          <a:xfrm>
            <a:off x="3045512" y="4697558"/>
            <a:ext cx="1524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 &amp; 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578318-6465-99D6-556D-146FFFACCBA8}"/>
              </a:ext>
            </a:extLst>
          </p:cNvPr>
          <p:cNvSpPr txBox="1"/>
          <p:nvPr/>
        </p:nvSpPr>
        <p:spPr>
          <a:xfrm>
            <a:off x="3930883" y="5553901"/>
            <a:ext cx="152400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/>
              <a:t>Human &amp; AI</a:t>
            </a:r>
          </a:p>
        </p:txBody>
      </p:sp>
    </p:spTree>
    <p:extLst>
      <p:ext uri="{BB962C8B-B14F-4D97-AF65-F5344CB8AC3E}">
        <p14:creationId xmlns:p14="http://schemas.microsoft.com/office/powerpoint/2010/main" val="3618386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F702-E273-1272-1C37-2DFF98ED8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Concerns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F5433-FE3F-ABEB-5ABD-073E20578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Accountability</a:t>
            </a:r>
          </a:p>
          <a:p>
            <a:pPr>
              <a:lnSpc>
                <a:spcPct val="114999"/>
              </a:lnSpc>
            </a:pPr>
            <a:r>
              <a:rPr lang="en-US" dirty="0"/>
              <a:t>Reliability</a:t>
            </a:r>
          </a:p>
          <a:p>
            <a:pPr>
              <a:lnSpc>
                <a:spcPct val="114999"/>
              </a:lnSpc>
            </a:pPr>
            <a:r>
              <a:rPr lang="en-US" dirty="0"/>
              <a:t>Maintainability</a:t>
            </a:r>
          </a:p>
          <a:p>
            <a:pPr>
              <a:lnSpc>
                <a:spcPct val="114999"/>
              </a:lnSpc>
            </a:pPr>
            <a:r>
              <a:rPr lang="en-US" dirty="0"/>
              <a:t>Security</a:t>
            </a:r>
          </a:p>
        </p:txBody>
      </p:sp>
      <p:pic>
        <p:nvPicPr>
          <p:cNvPr id="4" name="Picture 3" descr="Banner for OpenAI's Andrej Karpathy Advocates for AI With Leash, Not a Lasso">
            <a:extLst>
              <a:ext uri="{FF2B5EF4-FFF2-40B4-BE49-F238E27FC236}">
                <a16:creationId xmlns:a16="http://schemas.microsoft.com/office/drawing/2014/main" id="{3475C075-F22D-33DD-152A-3BC40C0D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97" y="1198605"/>
            <a:ext cx="4893275" cy="489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880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FEFB-8090-A6BB-4D02-9AB2D25ED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67"/>
              <a:t>A sandwich approach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9EF9B-7C4F-DF24-9898-7453FC8B7B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1591062"/>
            <a:ext cx="5936087" cy="4500772"/>
          </a:xfr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1733" dirty="0">
                <a:solidFill>
                  <a:schemeClr val="dk1"/>
                </a:solidFill>
              </a:rPr>
              <a:t>Human First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sz="2000" dirty="0">
                <a:solidFill>
                  <a:schemeClr val="dk1"/>
                </a:solidFill>
              </a:rPr>
              <a:t>Divide a task into small pieces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sz="2000" dirty="0">
                <a:solidFill>
                  <a:schemeClr val="dk1"/>
                </a:solidFill>
              </a:rPr>
              <a:t>Give a </a:t>
            </a:r>
            <a:r>
              <a:rPr lang="en-US" sz="2000" b="1" dirty="0">
                <a:solidFill>
                  <a:srgbClr val="FF0000"/>
                </a:solidFill>
              </a:rPr>
              <a:t>clear </a:t>
            </a:r>
            <a:r>
              <a:rPr lang="en-US" sz="2000" dirty="0">
                <a:solidFill>
                  <a:schemeClr val="dk1"/>
                </a:solidFill>
              </a:rPr>
              <a:t>intention and specification, as detail as possible</a:t>
            </a:r>
            <a:endParaRPr lang="en-US" dirty="0">
              <a:solidFill>
                <a:schemeClr val="dk1"/>
              </a:solidFill>
            </a:endParaRP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b="0" i="0" u="none" strike="noStrike" cap="none" dirty="0">
                <a:solidFill>
                  <a:schemeClr val="dk1"/>
                </a:solidFill>
              </a:rPr>
              <a:t>Develop </a:t>
            </a:r>
            <a:r>
              <a:rPr lang="en-US" dirty="0">
                <a:solidFill>
                  <a:schemeClr val="dk1"/>
                </a:solidFill>
              </a:rPr>
              <a:t>some examples by</a:t>
            </a:r>
            <a:r>
              <a:rPr lang="en-US" b="0" i="0" u="none" strike="noStrike" cap="none" dirty="0">
                <a:solidFill>
                  <a:schemeClr val="dk1"/>
                </a:solidFill>
              </a:rPr>
              <a:t> hand</a:t>
            </a:r>
          </a:p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1733" dirty="0">
                <a:solidFill>
                  <a:schemeClr val="dk1"/>
                </a:solidFill>
              </a:rPr>
              <a:t>AI second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sz="1733" dirty="0">
                <a:solidFill>
                  <a:schemeClr val="dk1"/>
                </a:solidFill>
              </a:rPr>
              <a:t>Based on the specification, follow the examples, develop the missing one</a:t>
            </a:r>
          </a:p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1733" dirty="0">
                <a:solidFill>
                  <a:schemeClr val="dk1"/>
                </a:solidFill>
              </a:rPr>
              <a:t>Human again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sz="1733" dirty="0">
                <a:solidFill>
                  <a:schemeClr val="dk1"/>
                </a:solidFill>
              </a:rPr>
              <a:t>Verify the developed components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  <a:buSzPts val="1800"/>
            </a:pPr>
            <a:r>
              <a:rPr lang="en-US" sz="1733" dirty="0">
                <a:solidFill>
                  <a:schemeClr val="dk1"/>
                </a:solidFill>
              </a:rPr>
              <a:t>How to verify?</a:t>
            </a:r>
          </a:p>
        </p:txBody>
      </p:sp>
      <p:pic>
        <p:nvPicPr>
          <p:cNvPr id="4" name="Picture 3" descr="A sandwich with lettuce and cheese&#10;&#10;AI-generated content may be incorrect.">
            <a:extLst>
              <a:ext uri="{FF2B5EF4-FFF2-40B4-BE49-F238E27FC236}">
                <a16:creationId xmlns:a16="http://schemas.microsoft.com/office/drawing/2014/main" id="{600DBCAC-39F2-D37E-6CA0-22039EC1B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61" r="3" b="3"/>
          <a:stretch>
            <a:fillRect/>
          </a:stretch>
        </p:blipFill>
        <p:spPr>
          <a:xfrm>
            <a:off x="6350000" y="1610967"/>
            <a:ext cx="5426400" cy="435254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1FFF98-CE29-CDDB-51CE-F1027FAB680A}"/>
              </a:ext>
            </a:extLst>
          </p:cNvPr>
          <p:cNvSpPr txBox="1"/>
          <p:nvPr/>
        </p:nvSpPr>
        <p:spPr>
          <a:xfrm>
            <a:off x="6930080" y="6291649"/>
            <a:ext cx="36576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Credit: freepik.com</a:t>
            </a:r>
          </a:p>
        </p:txBody>
      </p:sp>
    </p:spTree>
    <p:extLst>
      <p:ext uri="{BB962C8B-B14F-4D97-AF65-F5344CB8AC3E}">
        <p14:creationId xmlns:p14="http://schemas.microsoft.com/office/powerpoint/2010/main" val="5248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80870-5048-879A-8140-0C2EC9AD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Human First (Setting the context)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A6DAC-93A4-7F58-42CC-A98A46436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2533" dirty="0">
                <a:solidFill>
                  <a:schemeClr val="dk1"/>
                </a:solidFill>
              </a:rPr>
              <a:t>Divide a task into small pieces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2000" dirty="0">
                <a:solidFill>
                  <a:schemeClr val="dk1"/>
                </a:solidFill>
              </a:rPr>
              <a:t>System and component level design</a:t>
            </a:r>
          </a:p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2533" dirty="0">
                <a:solidFill>
                  <a:schemeClr val="dk1"/>
                </a:solidFill>
              </a:rPr>
              <a:t>Give a </a:t>
            </a:r>
            <a:r>
              <a:rPr lang="en-US" sz="2533" b="1" dirty="0">
                <a:solidFill>
                  <a:srgbClr val="FF0000"/>
                </a:solidFill>
              </a:rPr>
              <a:t>clear </a:t>
            </a:r>
            <a:r>
              <a:rPr lang="en-US" sz="2533" dirty="0">
                <a:solidFill>
                  <a:schemeClr val="dk1"/>
                </a:solidFill>
              </a:rPr>
              <a:t>intention and specification, as detail as possible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UC, User Story, Sequence Diagram, ER diagram, Class Diagram, Product Requirement Document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Test Case Documents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Project directory guides, System component guides, Existing API docs</a:t>
            </a:r>
          </a:p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Develop some examples by hand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Feature Development 50%-90%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Unit Testing 10%-20%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00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EF11-0333-0D38-DFF4-D90DF974D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Second (Agent workflows)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36E3E-B9E6-C468-F017-C98897192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sz="2267" dirty="0">
                <a:solidFill>
                  <a:schemeClr val="dk1"/>
                </a:solidFill>
              </a:rPr>
              <a:t>Based on the specification, follow the examples, develop the missing one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set clear and general rules, best practices, DOs and DONTS in an </a:t>
            </a:r>
            <a:r>
              <a:rPr lang="en-US" dirty="0" err="1">
                <a:solidFill>
                  <a:schemeClr val="dk1"/>
                </a:solidFill>
              </a:rPr>
              <a:t>AGENTS.md</a:t>
            </a:r>
            <a:r>
              <a:rPr lang="en-US" dirty="0">
                <a:solidFill>
                  <a:schemeClr val="dk1"/>
                </a:solidFill>
              </a:rPr>
              <a:t> file.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>
                <a:solidFill>
                  <a:schemeClr val="dk1"/>
                </a:solidFill>
              </a:rPr>
              <a:t>e.g. always adhere to the type signature, don’t delete codes, compile and test before moving on to the next step.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context prompts should be you’re the design docs, PRD and existing codes, function signatures etc.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e.g. what to build, what is considered task completed.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keep instructional prompts simple and short.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create a sandbox environment.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separate git branch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separate container</a:t>
            </a:r>
          </a:p>
          <a:p>
            <a:pPr lvl="2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r>
              <a:rPr lang="en-US" dirty="0"/>
              <a:t>separate database / API access, via MCP.</a:t>
            </a:r>
          </a:p>
          <a:p>
            <a:pPr lvl="1">
              <a:lnSpc>
                <a:spcPct val="105000"/>
              </a:lnSpc>
              <a:spcAft>
                <a:spcPts val="800"/>
              </a:spcAft>
              <a:buClr>
                <a:srgbClr val="00000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10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AAB61-1020-F4BD-2F1E-174C0C84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Human Again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221CE-B8B7-A876-3DD3-9D46491BDF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dk1"/>
                </a:solidFill>
              </a:rPr>
              <a:t>Verify the developed components</a:t>
            </a:r>
          </a:p>
          <a:p>
            <a:pPr lvl="1"/>
            <a:r>
              <a:rPr lang="en-US" dirty="0">
                <a:sym typeface="Wingdings" pitchFamily="2" charset="2"/>
              </a:rPr>
              <a:t>Rule #1: AI is not thinking, it is always guessing, every model hallucinate  Always be skeptical.</a:t>
            </a:r>
            <a:endParaRPr lang="en-US" dirty="0"/>
          </a:p>
          <a:p>
            <a:pPr lvl="1"/>
            <a:r>
              <a:rPr lang="en-US" dirty="0"/>
              <a:t>Rule #2: You must always review and test the AI output, every single line every single file.</a:t>
            </a:r>
          </a:p>
          <a:p>
            <a:pPr lvl="1"/>
            <a:r>
              <a:rPr lang="en-US" dirty="0"/>
              <a:t>Rule #3: if you don’t understand the AI output, only two possibilities:</a:t>
            </a:r>
          </a:p>
          <a:p>
            <a:pPr lvl="2"/>
            <a:r>
              <a:rPr lang="en-US" dirty="0"/>
              <a:t>You are not knowledgeable enough to review </a:t>
            </a:r>
            <a:r>
              <a:rPr lang="en-US" dirty="0">
                <a:sym typeface="Wingdings" pitchFamily="2" charset="2"/>
              </a:rPr>
              <a:t> Stop using AI, you should learn first.</a:t>
            </a:r>
          </a:p>
          <a:p>
            <a:pPr lvl="2"/>
            <a:r>
              <a:rPr lang="en-US" dirty="0">
                <a:sym typeface="Wingdings" pitchFamily="2" charset="2"/>
              </a:rPr>
              <a:t>AI is hallucinating  Stop using AI, you probably need to do it yourself.</a:t>
            </a:r>
          </a:p>
          <a:p>
            <a:pPr lvl="1"/>
            <a:r>
              <a:rPr lang="en-US" dirty="0">
                <a:sym typeface="Wingdings" pitchFamily="2" charset="2"/>
              </a:rPr>
              <a:t>Rule #4: The detailed your spec, the smaller the task, the easier to review process  Don’t throw a big task at AI and expecting it to complete perfectly.</a:t>
            </a:r>
          </a:p>
          <a:p>
            <a:pPr marL="795847" lvl="1" indent="0">
              <a:buNone/>
            </a:pPr>
            <a:endParaRPr lang="en-US" dirty="0"/>
          </a:p>
          <a:p>
            <a:pPr marL="795847" lvl="1" indent="0">
              <a:buNone/>
            </a:pPr>
            <a:r>
              <a:rPr lang="en-US" dirty="0"/>
              <a:t>More techniques will be discussed in Term 6-8 electives.</a:t>
            </a:r>
          </a:p>
        </p:txBody>
      </p:sp>
    </p:spTree>
    <p:extLst>
      <p:ext uri="{BB962C8B-B14F-4D97-AF65-F5344CB8AC3E}">
        <p14:creationId xmlns:p14="http://schemas.microsoft.com/office/powerpoint/2010/main" val="1578493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Macintosh PowerPoint</Application>
  <PresentationFormat>Widescreen</PresentationFormat>
  <Paragraphs>115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50.003 Elements of Software Construction</vt:lpstr>
      <vt:lpstr>Agentic AI</vt:lpstr>
      <vt:lpstr>Why Agentic AI in ESC (when you are learning SWE)</vt:lpstr>
      <vt:lpstr>Learning Outcomes</vt:lpstr>
      <vt:lpstr>Why Agentic AI in Software Development?</vt:lpstr>
      <vt:lpstr>What is Software Engineering? (Wikipedia) </vt:lpstr>
      <vt:lpstr>Which parts can't be done by LLM?</vt:lpstr>
      <vt:lpstr>PowerPoint Presentation</vt:lpstr>
      <vt:lpstr>The V-Model for SWE</vt:lpstr>
      <vt:lpstr>The V-Model for SWE</vt:lpstr>
      <vt:lpstr>The V-Model for SWE</vt:lpstr>
      <vt:lpstr>The V-Model for SWE</vt:lpstr>
      <vt:lpstr>The V-Model for SWE</vt:lpstr>
      <vt:lpstr>The V-Model for SWE</vt:lpstr>
      <vt:lpstr>The V-Model for SWE</vt:lpstr>
      <vt:lpstr>Concerns</vt:lpstr>
      <vt:lpstr>A sandwich approach</vt:lpstr>
      <vt:lpstr>Human First (Setting the context)</vt:lpstr>
      <vt:lpstr>AI Second (Agent workflows)</vt:lpstr>
      <vt:lpstr>Human Again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 Zhuo Ming (Kenny)</dc:creator>
  <cp:lastModifiedBy>Lu Zhuo Ming (Kenny)</cp:lastModifiedBy>
  <cp:revision>1</cp:revision>
  <dcterms:created xsi:type="dcterms:W3CDTF">2026-06-29T04:39:46Z</dcterms:created>
  <dcterms:modified xsi:type="dcterms:W3CDTF">2026-06-29T04:42:56Z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298231-ee28-4c9e-9ffa-238d0040efda_Enabled">
    <vt:lpwstr>true</vt:lpwstr>
  </property>
  <property fmtid="{D5CDD505-2E9C-101B-9397-08002B2CF9AE}" pid="3" name="MSIP_Label_be298231-ee28-4c9e-9ffa-238d0040efda_SetDate">
    <vt:lpwstr>2026-06-29T04:42:56Z</vt:lpwstr>
  </property>
  <property fmtid="{D5CDD505-2E9C-101B-9397-08002B2CF9AE}" pid="4" name="MSIP_Label_be298231-ee28-4c9e-9ffa-238d0040efda_Method">
    <vt:lpwstr>Privileged</vt:lpwstr>
  </property>
  <property fmtid="{D5CDD505-2E9C-101B-9397-08002B2CF9AE}" pid="5" name="MSIP_Label_be298231-ee28-4c9e-9ffa-238d0040efda_Name">
    <vt:lpwstr>Public</vt:lpwstr>
  </property>
  <property fmtid="{D5CDD505-2E9C-101B-9397-08002B2CF9AE}" pid="6" name="MSIP_Label_be298231-ee28-4c9e-9ffa-238d0040efda_SiteId">
    <vt:lpwstr>3476b776-e990-4f72-b950-62489831623d</vt:lpwstr>
  </property>
  <property fmtid="{D5CDD505-2E9C-101B-9397-08002B2CF9AE}" pid="7" name="MSIP_Label_be298231-ee28-4c9e-9ffa-238d0040efda_ActionId">
    <vt:lpwstr>c4f5ea8f-ca17-4a55-b714-0161a0d23a57</vt:lpwstr>
  </property>
  <property fmtid="{D5CDD505-2E9C-101B-9397-08002B2CF9AE}" pid="8" name="MSIP_Label_be298231-ee28-4c9e-9ffa-238d0040efda_ContentBits">
    <vt:lpwstr>0</vt:lpwstr>
  </property>
  <property fmtid="{D5CDD505-2E9C-101B-9397-08002B2CF9AE}" pid="9" name="MSIP_Label_be298231-ee28-4c9e-9ffa-238d0040efda_Tag">
    <vt:lpwstr>50, 0, 1, 1</vt:lpwstr>
  </property>
</Properties>
</file>